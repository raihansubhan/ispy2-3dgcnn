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Pilot FTV-Based pCR Prediction in I-SPY2 Breast MRI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Tumor-source validation with a future temporal graph learning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Research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Breast MRI can monitor response during neoadjuvant therapy.</a:t>
            </a:r>
          </a:p>
          <a:p>
            <a:pPr>
              <a:defRPr sz="1800"/>
            </a:pPr>
            <a:r>
              <a:t>Machine learning depends on reliable tumor features.</a:t>
            </a:r>
          </a:p>
          <a:p>
            <a:pPr>
              <a:defRPr sz="1800"/>
            </a:pPr>
            <a:r>
              <a:t>Raw DICOM SEG masks were not reliable tumor-only masks in this pipeline.</a:t>
            </a:r>
          </a:p>
          <a:p>
            <a:pPr>
              <a:defRPr sz="1800"/>
            </a:pPr>
            <a:r>
              <a:t>Official MRI/FTV support features became the stronger modeling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and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Dataset size on Cradle: 1.6T</a:t>
            </a:r>
          </a:p>
          <a:p>
            <a:pPr>
              <a:defRPr sz="1800"/>
            </a:pPr>
            <a:r>
              <a:t>Patients in inventory: 719</a:t>
            </a:r>
          </a:p>
          <a:p>
            <a:pPr>
              <a:defRPr sz="1800"/>
            </a:pPr>
            <a:r>
              <a:t>Series: 32411</a:t>
            </a:r>
          </a:p>
          <a:p>
            <a:pPr>
              <a:defRPr sz="1800"/>
            </a:pPr>
            <a:r>
              <a:t>DICOM files counted: 5586493</a:t>
            </a:r>
          </a:p>
          <a:p>
            <a:pPr>
              <a:defRPr sz="1800"/>
            </a:pPr>
            <a:r>
              <a:t>Workflow: inventory, SEG diagnosis, support-data FTV modeling, graph-ready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pipeline</a:t>
            </a:r>
          </a:p>
        </p:txBody>
      </p:sp>
      <p:pic>
        <p:nvPicPr>
          <p:cNvPr id="3" name="Picture 2" descr="270_phase8e_projec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789920" cy="6294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Overall project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Visual preprocessing and breast-pair methods</a:t>
            </a:r>
          </a:p>
        </p:txBody>
      </p:sp>
      <p:pic>
        <p:nvPicPr>
          <p:cNvPr id="3" name="Picture 2" descr="340_stage10d_master_method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789920" cy="59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Stage 10D master methods panel.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Main pilot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Best current model: SVM_RBF</a:t>
            </a:r>
          </a:p>
          <a:p>
            <a:pPr>
              <a:defRPr sz="1800"/>
            </a:pPr>
            <a:r>
              <a:t>FTV AUROC: 0.6667</a:t>
            </a:r>
          </a:p>
          <a:p>
            <a:pPr>
              <a:defRPr sz="1800"/>
            </a:pPr>
            <a:r>
              <a:t>FTV AUPRC: 0.7528</a:t>
            </a:r>
          </a:p>
          <a:p>
            <a:pPr>
              <a:defRPr sz="1800"/>
            </a:pPr>
            <a:r>
              <a:t>FTV Brier score: 0.2405</a:t>
            </a:r>
          </a:p>
          <a:p>
            <a:pPr>
              <a:defRPr sz="1800"/>
            </a:pPr>
            <a:r>
              <a:t>Earlier baseline AUROC: 0.5462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FTV model vs baseline</a:t>
            </a:r>
          </a:p>
        </p:txBody>
      </p:sp>
      <p:pic>
        <p:nvPicPr>
          <p:cNvPr id="3" name="Picture 2" descr="260_phase8d_baseline_vs_ftv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789920" cy="59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FTV support-data model gave the strongest pilot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Temporal graph decision</a:t>
            </a:r>
          </a:p>
        </p:txBody>
      </p:sp>
      <p:pic>
        <p:nvPicPr>
          <p:cNvPr id="3" name="Picture 2" descr="300_phase9c_model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789920" cy="59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Temporal graph learning is future work, not the main current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temporal graph framework</a:t>
            </a:r>
          </a:p>
        </p:txBody>
      </p:sp>
      <p:pic>
        <p:nvPicPr>
          <p:cNvPr id="3" name="Picture 2" descr="283_phase9a_graph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789920" cy="6294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Patient visits become graph nodes; temporal edges track treatment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Pilot cohort is small.</a:t>
            </a:r>
          </a:p>
          <a:p>
            <a:pPr>
              <a:defRPr sz="1800"/>
            </a:pPr>
            <a:r>
              <a:t>The best FTV model used 13 labeled patients.</a:t>
            </a:r>
          </a:p>
          <a:p>
            <a:pPr>
              <a:defRPr sz="1800"/>
            </a:pPr>
            <a:r>
              <a:t>This is not clinical validation.</a:t>
            </a:r>
          </a:p>
          <a:p>
            <a:pPr>
              <a:defRPr sz="1800"/>
            </a:pPr>
            <a:r>
              <a:t>DICOM SEG masks were diagnostic, not the final tumor-source path.</a:t>
            </a:r>
          </a:p>
          <a:p>
            <a:pPr>
              <a:defRPr sz="1800"/>
            </a:pPr>
            <a:r>
              <a:t>Temporal GNN needs more patients and stable longitudinal node identity.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project built a reproducible ISPY2 Cradle-to-GitHub pipeline.</a:t>
            </a:r>
          </a:p>
          <a:p>
            <a:pPr>
              <a:defRPr sz="1800"/>
            </a:pPr>
            <a:r>
              <a:t>Tumor-source validation changed the research direction.</a:t>
            </a:r>
          </a:p>
          <a:p>
            <a:pPr>
              <a:defRPr sz="1800"/>
            </a:pPr>
            <a:r>
              <a:t>Official MRI/FTV support features gave the strongest pilot pCR signal.</a:t>
            </a:r>
          </a:p>
          <a:p>
            <a:pPr>
              <a:defRPr sz="1800"/>
            </a:pPr>
            <a:r>
              <a:t>Temporal graph learning remains the next research phase.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